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sldIdLst>
    <p:sldId id="257" r:id="rId5"/>
    <p:sldId id="276" r:id="rId6"/>
    <p:sldId id="258" r:id="rId7"/>
    <p:sldId id="260" r:id="rId8"/>
    <p:sldId id="264" r:id="rId9"/>
    <p:sldId id="265" r:id="rId10"/>
    <p:sldId id="275" r:id="rId11"/>
    <p:sldId id="269" r:id="rId12"/>
    <p:sldId id="27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45B70-D5DC-472E-ADFB-D8D75B57814F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DBC6-3448-48F0-9950-825E98DE1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707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45B70-D5DC-472E-ADFB-D8D75B57814F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DBC6-3448-48F0-9950-825E98DE1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616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45B70-D5DC-472E-ADFB-D8D75B57814F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DBC6-3448-48F0-9950-825E98DE1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450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45B70-D5DC-472E-ADFB-D8D75B57814F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DBC6-3448-48F0-9950-825E98DE1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643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45B70-D5DC-472E-ADFB-D8D75B57814F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DBC6-3448-48F0-9950-825E98DE1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459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45B70-D5DC-472E-ADFB-D8D75B57814F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DBC6-3448-48F0-9950-825E98DE1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51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45B70-D5DC-472E-ADFB-D8D75B57814F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DBC6-3448-48F0-9950-825E98DE1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526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45B70-D5DC-472E-ADFB-D8D75B57814F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DBC6-3448-48F0-9950-825E98DE1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45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2FF45B70-D5DC-472E-ADFB-D8D75B57814F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2AC9DBC6-3448-48F0-9950-825E98DE1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414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45B70-D5DC-472E-ADFB-D8D75B57814F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DBC6-3448-48F0-9950-825E98DE1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503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45B70-D5DC-472E-ADFB-D8D75B57814F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DBC6-3448-48F0-9950-825E98DE1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486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45B70-D5DC-472E-ADFB-D8D75B57814F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DBC6-3448-48F0-9950-825E98DE1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969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45B70-D5DC-472E-ADFB-D8D75B57814F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DBC6-3448-48F0-9950-825E98DE1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831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45B70-D5DC-472E-ADFB-D8D75B57814F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DBC6-3448-48F0-9950-825E98DE1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6382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612000" tIns="0" anchor="ctr"/>
          <a:lstStyle>
            <a:lvl1pPr marL="0" indent="0" algn="l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00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anchor="ctr"/>
          <a:lstStyle>
            <a:lvl1pPr algn="l">
              <a:defRPr sz="5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97F3D-57FA-4E82-9EEC-E93088055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0" y="4276447"/>
            <a:ext cx="5161550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144000" anchor="ctr"/>
          <a:lstStyle>
            <a:lvl1pPr marL="0" indent="0" algn="l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31775C8-C7F0-4EC5-A9C0-53AE3A0C5F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0" y="6262080"/>
            <a:ext cx="7560000" cy="36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8B0AE2-DA19-49E2-AC81-5272385D30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797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0" tIns="0" rIns="612000" anchor="ctr"/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bIns="756000" anchor="ctr"/>
          <a:lstStyle>
            <a:lvl1pPr algn="l">
              <a:lnSpc>
                <a:spcPct val="65000"/>
              </a:lnSpc>
              <a:defRPr sz="88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9FD1A9-E34B-4888-90DE-493861AD75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17700" y="4508500"/>
            <a:ext cx="3314700" cy="33020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452AC72-D893-4C1A-83BD-9930164D89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17700" y="5180023"/>
            <a:ext cx="3314700" cy="205029"/>
          </a:xfrm>
          <a:ln>
            <a:noFill/>
          </a:ln>
        </p:spPr>
        <p:txBody>
          <a:bodyPr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2EEC149-F1BE-4C36-A789-5BF73B40A2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17700" y="5683561"/>
            <a:ext cx="3314700" cy="205029"/>
          </a:xfrm>
          <a:ln>
            <a:noFill/>
          </a:ln>
        </p:spPr>
        <p:txBody>
          <a:bodyPr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CC256E6-6AE8-4950-838C-BE638FB479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17700" y="4821910"/>
            <a:ext cx="3314700" cy="205029"/>
          </a:xfrm>
        </p:spPr>
        <p:txBody>
          <a:bodyPr anchor="t"/>
          <a:lstStyle>
            <a:lvl1pPr marL="0" indent="0">
              <a:buNone/>
              <a:defRPr sz="1000" i="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891502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2FF45B70-D5DC-472E-ADFB-D8D75B57814F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2AC9DBC6-3448-48F0-9950-825E98DE1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8891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Doctor pointing on a large display">
            <a:extLst>
              <a:ext uri="{FF2B5EF4-FFF2-40B4-BE49-F238E27FC236}">
                <a16:creationId xmlns:a16="http://schemas.microsoft.com/office/drawing/2014/main" id="{8F02F647-7DBC-4618-AFF3-8CED69C5CDE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8D8E648-93B0-47FF-A306-492EFF7FC4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       </a:t>
            </a:r>
            <a:r>
              <a:rPr lang="en-US" b="1" dirty="0">
                <a:latin typeface="Gill Sans MT (Headings)"/>
              </a:rPr>
              <a:t>MEDX</a:t>
            </a:r>
            <a:br>
              <a:rPr lang="en-US" b="1" dirty="0"/>
            </a:br>
            <a:endParaRPr lang="en-US" sz="3600"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4857D70-F12B-4E1B-99F8-92DAD4349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8769" y="3917482"/>
            <a:ext cx="6401505" cy="779646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>
            <a:no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Your Guide to Health, Nutrition, and Care.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C85C272F-FCB2-478D-9E03-EC734D1AB6C0}"/>
              </a:ext>
            </a:extLst>
          </p:cNvPr>
          <p:cNvSpPr/>
          <p:nvPr/>
        </p:nvSpPr>
        <p:spPr bwMode="white">
          <a:xfrm>
            <a:off x="3687084" y="3678205"/>
            <a:ext cx="4104000" cy="9773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50593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A216DD-D86A-D29D-0BC4-8FFDE6138032}"/>
              </a:ext>
            </a:extLst>
          </p:cNvPr>
          <p:cNvSpPr/>
          <p:nvPr/>
        </p:nvSpPr>
        <p:spPr>
          <a:xfrm>
            <a:off x="786681" y="365605"/>
            <a:ext cx="4766330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Team Details:-</a:t>
            </a:r>
          </a:p>
        </p:txBody>
      </p:sp>
      <p:sp>
        <p:nvSpPr>
          <p:cNvPr id="1146" name="TextBox 9">
            <a:extLst>
              <a:ext uri="{FF2B5EF4-FFF2-40B4-BE49-F238E27FC236}">
                <a16:creationId xmlns:a16="http://schemas.microsoft.com/office/drawing/2014/main" id="{B27B4C83-8A3C-1ADF-9F5B-B6BAAFF73BFA}"/>
              </a:ext>
            </a:extLst>
          </p:cNvPr>
          <p:cNvSpPr txBox="1"/>
          <p:nvPr/>
        </p:nvSpPr>
        <p:spPr>
          <a:xfrm>
            <a:off x="133557" y="3256835"/>
            <a:ext cx="7574835" cy="27050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600" b="1" dirty="0">
                <a:effectLst/>
              </a:rPr>
              <a:t>     Team Name –</a:t>
            </a:r>
            <a:r>
              <a:rPr lang="en-US" sz="1600" dirty="0">
                <a:effectLst/>
              </a:rPr>
              <a:t> Med-X</a:t>
            </a:r>
            <a:r>
              <a:rPr lang="en-US" sz="1600" dirty="0"/>
              <a:t>                                                     </a:t>
            </a:r>
          </a:p>
          <a:p>
            <a:pPr>
              <a:spcAft>
                <a:spcPts val="800"/>
              </a:spcAft>
            </a:pPr>
            <a:r>
              <a:rPr lang="en-US" sz="1600" b="1" dirty="0">
                <a:effectLst/>
              </a:rPr>
              <a:t>     Team Member Details :—</a:t>
            </a:r>
          </a:p>
          <a:p>
            <a:pPr>
              <a:spcAft>
                <a:spcPts val="800"/>
              </a:spcAft>
            </a:pPr>
            <a:r>
              <a:rPr lang="en-US" sz="1600" dirty="0"/>
              <a:t>		1.     </a:t>
            </a:r>
            <a:r>
              <a:rPr lang="en-US" sz="1600" dirty="0">
                <a:effectLst/>
              </a:rPr>
              <a:t>Name  —  </a:t>
            </a:r>
            <a:r>
              <a:rPr lang="en-US" sz="1600" dirty="0"/>
              <a:t>Jiya Yadav </a:t>
            </a:r>
          </a:p>
          <a:p>
            <a:pPr>
              <a:spcAft>
                <a:spcPts val="800"/>
              </a:spcAft>
            </a:pPr>
            <a:r>
              <a:rPr lang="en-US" sz="1600" dirty="0"/>
              <a:t>		2.     </a:t>
            </a:r>
            <a:r>
              <a:rPr lang="en-US" sz="1600" dirty="0">
                <a:effectLst/>
              </a:rPr>
              <a:t>Name  — Lavanya Chaudhary</a:t>
            </a:r>
            <a:endParaRPr lang="en-US" sz="1600" dirty="0"/>
          </a:p>
          <a:p>
            <a:pPr>
              <a:spcAft>
                <a:spcPts val="800"/>
              </a:spcAft>
            </a:pPr>
            <a:endParaRPr lang="en-US" sz="1600" u="sng" dirty="0">
              <a:effectLst/>
            </a:endParaRPr>
          </a:p>
          <a:p>
            <a:pPr>
              <a:spcAft>
                <a:spcPts val="800"/>
              </a:spcAft>
            </a:pPr>
            <a:r>
              <a:rPr lang="en-US" sz="1600" b="1" dirty="0">
                <a:effectLst/>
              </a:rPr>
              <a:t>      Institute Name and Address </a:t>
            </a:r>
            <a:r>
              <a:rPr lang="en-US" sz="1600" dirty="0">
                <a:effectLst/>
              </a:rPr>
              <a:t>— </a:t>
            </a:r>
          </a:p>
        </p:txBody>
      </p:sp>
      <p:pic>
        <p:nvPicPr>
          <p:cNvPr id="1058" name="Graphic 1041" descr="Employee Badge">
            <a:extLst>
              <a:ext uri="{FF2B5EF4-FFF2-40B4-BE49-F238E27FC236}">
                <a16:creationId xmlns:a16="http://schemas.microsoft.com/office/drawing/2014/main" id="{BFC9DBB0-F150-D514-F475-8E4BF44D2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8392" y="1819656"/>
            <a:ext cx="4142232" cy="4142232"/>
          </a:xfrm>
          <a:prstGeom prst="rect">
            <a:avLst/>
          </a:prstGeom>
        </p:spPr>
      </p:pic>
      <p:sp>
        <p:nvSpPr>
          <p:cNvPr id="2" name="object 7" descr="Beige rectangle">
            <a:extLst>
              <a:ext uri="{FF2B5EF4-FFF2-40B4-BE49-F238E27FC236}">
                <a16:creationId xmlns:a16="http://schemas.microsoft.com/office/drawing/2014/main" id="{D96A3200-AAF7-A1D4-289E-F1B5444CE6A1}"/>
              </a:ext>
            </a:extLst>
          </p:cNvPr>
          <p:cNvSpPr/>
          <p:nvPr/>
        </p:nvSpPr>
        <p:spPr bwMode="white">
          <a:xfrm>
            <a:off x="857120" y="1547132"/>
            <a:ext cx="4104000" cy="544586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CE8DC4-BB56-EC0A-9B8A-E237A91B1A6E}"/>
              </a:ext>
            </a:extLst>
          </p:cNvPr>
          <p:cNvSpPr txBox="1"/>
          <p:nvPr/>
        </p:nvSpPr>
        <p:spPr>
          <a:xfrm>
            <a:off x="3720055" y="5013622"/>
            <a:ext cx="39883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effectLst/>
              </a:rPr>
              <a:t>KIET Group of Institutions, Delhi-NCR, Meeru</a:t>
            </a:r>
            <a:r>
              <a:rPr lang="en-US" sz="1600" dirty="0"/>
              <a:t>t</a:t>
            </a:r>
            <a:r>
              <a:rPr lang="en-US" sz="1600" dirty="0">
                <a:effectLst/>
              </a:rPr>
              <a:t> Road(NH-58), Ghaziabad -</a:t>
            </a:r>
            <a:r>
              <a:rPr lang="en-US" sz="1600" dirty="0"/>
              <a:t> </a:t>
            </a:r>
            <a:r>
              <a:rPr lang="en-US" sz="1600" dirty="0">
                <a:effectLst/>
              </a:rPr>
              <a:t>201206, Uttar Pradesh, India.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34546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41CF9-AAD8-5654-B836-27718AB48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100" y="2274870"/>
            <a:ext cx="11534193" cy="4351338"/>
          </a:xfrm>
        </p:spPr>
        <p:txBody>
          <a:bodyPr>
            <a:normAutofit/>
          </a:bodyPr>
          <a:lstStyle/>
          <a:p>
            <a:pPr>
              <a:tabLst>
                <a:tab pos="10496550" algn="l"/>
              </a:tabLst>
            </a:pPr>
            <a:endParaRPr lang="en-IN" sz="2000" dirty="0">
              <a:effectLst/>
              <a:latin typeface="Dubai Light" panose="020B0303030403030204" pitchFamily="34" charset="-78"/>
              <a:ea typeface="Times New Roman" panose="02020603050405020304" pitchFamily="18" charset="0"/>
              <a:cs typeface="Dubai Light" panose="020B0303030403030204" pitchFamily="34" charset="-78"/>
            </a:endParaRPr>
          </a:p>
          <a:p>
            <a:pPr>
              <a:tabLst>
                <a:tab pos="10496550" algn="l"/>
              </a:tabLst>
            </a:pPr>
            <a:r>
              <a:rPr lang="en-IN" sz="2000" dirty="0">
                <a:effectLst/>
                <a:latin typeface="Dubai Light" panose="020B0303030403030204" pitchFamily="34" charset="-78"/>
                <a:ea typeface="Times New Roman" panose="02020603050405020304" pitchFamily="18" charset="0"/>
                <a:cs typeface="Dubai Light" panose="020B0303030403030204" pitchFamily="34" charset="-78"/>
              </a:rPr>
              <a:t>Our aim is </a:t>
            </a:r>
            <a:r>
              <a:rPr lang="en-IN" sz="2000" dirty="0">
                <a:latin typeface="Dubai Light" panose="020B0303030403030204" pitchFamily="34" charset="-78"/>
                <a:ea typeface="Times New Roman" panose="02020603050405020304" pitchFamily="18" charset="0"/>
                <a:cs typeface="Dubai Light" panose="020B0303030403030204" pitchFamily="34" charset="-78"/>
              </a:rPr>
              <a:t>t</a:t>
            </a:r>
            <a:r>
              <a:rPr lang="en-IN" sz="2000" dirty="0">
                <a:effectLst/>
                <a:latin typeface="Dubai Light" panose="020B0303030403030204" pitchFamily="34" charset="-78"/>
                <a:ea typeface="Times New Roman" panose="02020603050405020304" pitchFamily="18" charset="0"/>
                <a:cs typeface="Dubai Light" panose="020B0303030403030204" pitchFamily="34" charset="-78"/>
              </a:rPr>
              <a:t>o create a website that uses machine learning algorithms to enhance user experience by providing patients results with optimum accuracy. </a:t>
            </a:r>
          </a:p>
          <a:p>
            <a:pPr>
              <a:tabLst>
                <a:tab pos="10496550" algn="l"/>
              </a:tabLst>
            </a:pPr>
            <a:r>
              <a:rPr lang="en-IN" sz="2000" dirty="0">
                <a:latin typeface="Dubai Light" panose="020B0303030403030204" pitchFamily="34" charset="-78"/>
                <a:cs typeface="Dubai Light" panose="020B0303030403030204" pitchFamily="34" charset="-78"/>
              </a:rPr>
              <a:t>Our website delivers personalized patient care by predicting diseases, providing tailored wellness recommendations, and facilitating quick doctor referrals based on symptoms. </a:t>
            </a:r>
          </a:p>
          <a:p>
            <a:pPr>
              <a:tabLst>
                <a:tab pos="10496550" algn="l"/>
              </a:tabLst>
            </a:pPr>
            <a:r>
              <a:rPr lang="en-IN" sz="2000" dirty="0">
                <a:latin typeface="Dubai Light" panose="020B0303030403030204" pitchFamily="34" charset="-78"/>
                <a:cs typeface="Dubai Light" panose="020B0303030403030204" pitchFamily="34" charset="-78"/>
              </a:rPr>
              <a:t>Leveraging advanced deep learning, we analyse image data for early disease detection while connecting patients to nearby doctors and hospitals for comprehensive care.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9F7950-5A8D-8F3C-411E-6F5A22AFCF45}"/>
              </a:ext>
            </a:extLst>
          </p:cNvPr>
          <p:cNvSpPr/>
          <p:nvPr/>
        </p:nvSpPr>
        <p:spPr>
          <a:xfrm>
            <a:off x="519100" y="559051"/>
            <a:ext cx="47804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Dubai Medium" panose="020B0603030403030204" pitchFamily="34" charset="-78"/>
              </a:rPr>
              <a:t>Ideation</a:t>
            </a:r>
            <a:r>
              <a:rPr lang="en-US" sz="5400" b="1" cap="none" spc="0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Dubai Medium" panose="020B0603030403030204" pitchFamily="34" charset="-78"/>
              </a:rPr>
              <a:t> </a:t>
            </a:r>
            <a:r>
              <a:rPr lang="en-US" sz="3600" b="1" cap="none" spc="0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Dubai Medium" panose="020B0603030403030204" pitchFamily="34" charset="-78"/>
              </a:rPr>
              <a:t>statement:</a:t>
            </a:r>
            <a:r>
              <a:rPr lang="en-IN" sz="3600" b="1" kern="100" cap="none" spc="0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Calibri" panose="020F0502020204030204" pitchFamily="34" charset="0"/>
                <a:cs typeface="Dubai Light" panose="020B0303030403030204" pitchFamily="34" charset="-78"/>
              </a:rPr>
              <a:t>-</a:t>
            </a:r>
            <a:endParaRPr lang="en-IN" sz="36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Calibri" panose="020F0502020204030204" pitchFamily="34" charset="0"/>
              <a:cs typeface="Dubai Light" panose="020B0303030403030204" pitchFamily="34" charset="-7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8305FB-DFC8-C406-359C-59CC49712FCD}"/>
              </a:ext>
            </a:extLst>
          </p:cNvPr>
          <p:cNvSpPr/>
          <p:nvPr/>
        </p:nvSpPr>
        <p:spPr>
          <a:xfrm>
            <a:off x="658868" y="1999048"/>
            <a:ext cx="1274708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Dubai Medium" panose="020B0603030403030204" pitchFamily="34" charset="-78"/>
              <a:cs typeface="Dubai Medium" panose="020B0603030403030204" pitchFamily="34" charset="-78"/>
            </a:endParaRPr>
          </a:p>
          <a:p>
            <a:pPr algn="ctr"/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Dubai Medium" panose="020B0603030403030204" pitchFamily="34" charset="-78"/>
              <a:cs typeface="Dubai Medium" panose="020B0603030403030204" pitchFamily="34" charset="-78"/>
            </a:endParaRPr>
          </a:p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ubai Medium" panose="020B0603030403030204" pitchFamily="34" charset="-78"/>
                <a:cs typeface="Dubai Medium" panose="020B0603030403030204" pitchFamily="34" charset="-78"/>
              </a:rPr>
              <a:t>Theme</a:t>
            </a:r>
            <a:r>
              <a:rPr lang="en-US" sz="2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ubai Medium" panose="020B0603030403030204" pitchFamily="34" charset="-78"/>
                <a:cs typeface="Dubai Medium" panose="020B0603030403030204" pitchFamily="34" charset="-78"/>
              </a:rPr>
              <a:t>:</a:t>
            </a:r>
            <a:endParaRPr lang="en-IN" sz="2800" kern="100" dirty="0">
              <a:effectLst/>
              <a:latin typeface="Dubai Light" panose="020B0303030403030204" pitchFamily="34" charset="-78"/>
              <a:ea typeface="Calibri" panose="020F0502020204030204" pitchFamily="34" charset="0"/>
              <a:cs typeface="Dubai Light" panose="020B0303030403030204" pitchFamily="34" charset="-78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EE46448-D2F0-24C6-CE2E-7AD67A63587B}"/>
              </a:ext>
            </a:extLst>
          </p:cNvPr>
          <p:cNvSpPr txBox="1">
            <a:spLocks/>
          </p:cNvSpPr>
          <p:nvPr/>
        </p:nvSpPr>
        <p:spPr>
          <a:xfrm>
            <a:off x="1933576" y="2908816"/>
            <a:ext cx="9794226" cy="3303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0496550" algn="l"/>
              </a:tabLst>
            </a:pPr>
            <a:r>
              <a:rPr lang="en-IN" dirty="0">
                <a:effectLst/>
                <a:latin typeface="Dubai Light" panose="020B0303030403030204" pitchFamily="34" charset="-78"/>
                <a:ea typeface="Calibri" panose="020F0502020204030204" pitchFamily="34" charset="0"/>
                <a:cs typeface="Dubai Light" panose="020B0303030403030204" pitchFamily="34" charset="-78"/>
              </a:rPr>
              <a:t>Artificial Intelligence in Healthcare</a:t>
            </a:r>
            <a:br>
              <a:rPr lang="en-IN" sz="3200" dirty="0">
                <a:latin typeface="Dubai Light" panose="020B0303030403030204" pitchFamily="34" charset="-78"/>
                <a:ea typeface="Times New Roman" panose="02020603050405020304" pitchFamily="18" charset="0"/>
                <a:cs typeface="Dubai Light" panose="020B0303030403030204" pitchFamily="34" charset="-78"/>
              </a:rPr>
            </a:br>
            <a:endParaRPr lang="en-IN" sz="32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57047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Close-up of a solar panel&#10;&#10;Description automatically generated">
            <a:extLst>
              <a:ext uri="{FF2B5EF4-FFF2-40B4-BE49-F238E27FC236}">
                <a16:creationId xmlns:a16="http://schemas.microsoft.com/office/drawing/2014/main" id="{0D5FFFD2-583E-A2D0-29A1-EB9D3010A5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b="15730"/>
          <a:stretch/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9F7950-5A8D-8F3C-411E-6F5A22AFCF45}"/>
              </a:ext>
            </a:extLst>
          </p:cNvPr>
          <p:cNvSpPr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Problem</a:t>
            </a:r>
            <a:r>
              <a:rPr lang="en-US" sz="4400" b="1" cap="none" spc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statement:</a:t>
            </a:r>
            <a:r>
              <a:rPr lang="en-US" sz="4400" b="1" cap="none" spc="0" dirty="0">
                <a:ln w="0"/>
                <a:solidFill>
                  <a:srgbClr val="FFFFFF"/>
                </a:solidFill>
                <a:latin typeface="+mj-lt"/>
                <a:ea typeface="+mj-ea"/>
                <a:cs typeface="+mj-cs"/>
              </a:rPr>
              <a:t>-</a:t>
            </a:r>
            <a:endParaRPr lang="en-US" sz="4400" b="1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D5E205C-C880-5529-2FFC-A75B616657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550" y="2522557"/>
            <a:ext cx="1167487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Timely Diagnosis Challenge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Patients face delays in receiving accurate diagnoses based on their symptoms, hindering prompt treatment.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Personalized Care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Existing resources do not provide tailored health recommendations or easy access to local healthcare options.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Advanced Detection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Early detection of conditions like skin cancer and diabetic retinopathy is often missed due to inadequate image analysis tools.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Accessibility to Healthcare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Patients require a streamlined way to connect with nearby doctors and hospitals for effective care.</a:t>
            </a:r>
          </a:p>
        </p:txBody>
      </p:sp>
    </p:spTree>
    <p:extLst>
      <p:ext uri="{BB962C8B-B14F-4D97-AF65-F5344CB8AC3E}">
        <p14:creationId xmlns:p14="http://schemas.microsoft.com/office/powerpoint/2010/main" val="38065436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9F7950-5A8D-8F3C-411E-6F5A22AFCF45}"/>
              </a:ext>
            </a:extLst>
          </p:cNvPr>
          <p:cNvSpPr/>
          <p:nvPr/>
        </p:nvSpPr>
        <p:spPr>
          <a:xfrm>
            <a:off x="5051369" y="285876"/>
            <a:ext cx="4589493" cy="15783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Description:</a:t>
            </a:r>
            <a:r>
              <a:rPr lang="en-US" sz="4000" b="0" cap="none" spc="0" dirty="0">
                <a:ln w="0"/>
                <a:latin typeface="+mj-lt"/>
                <a:ea typeface="+mj-ea"/>
                <a:cs typeface="+mj-cs"/>
              </a:rPr>
              <a:t>-</a:t>
            </a:r>
            <a:endParaRPr lang="en-US" sz="4000" dirty="0"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 descr="Stethoscope">
            <a:extLst>
              <a:ext uri="{FF2B5EF4-FFF2-40B4-BE49-F238E27FC236}">
                <a16:creationId xmlns:a16="http://schemas.microsoft.com/office/drawing/2014/main" id="{9483C362-6036-729A-C0E2-4E28AF5498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47" t="-1" r="13984" b="-1"/>
          <a:stretch/>
        </p:blipFill>
        <p:spPr>
          <a:xfrm>
            <a:off x="0" y="0"/>
            <a:ext cx="4505498" cy="6857999"/>
          </a:xfrm>
          <a:custGeom>
            <a:avLst/>
            <a:gdLst/>
            <a:ahLst/>
            <a:cxnLst/>
            <a:rect l="l" t="t" r="r" b="b"/>
            <a:pathLst>
              <a:path w="6832674" h="6858000">
                <a:moveTo>
                  <a:pt x="0" y="0"/>
                </a:moveTo>
                <a:lnTo>
                  <a:pt x="6832674" y="0"/>
                </a:lnTo>
                <a:lnTo>
                  <a:pt x="6749707" y="183520"/>
                </a:lnTo>
                <a:cubicBezTo>
                  <a:pt x="6327787" y="1181050"/>
                  <a:pt x="6094475" y="2277779"/>
                  <a:pt x="6094475" y="3429000"/>
                </a:cubicBezTo>
                <a:cubicBezTo>
                  <a:pt x="6094475" y="4580222"/>
                  <a:pt x="6327787" y="5676950"/>
                  <a:pt x="6749707" y="6674481"/>
                </a:cubicBezTo>
                <a:lnTo>
                  <a:pt x="683267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object 7" descr="Beige rectangle">
            <a:extLst>
              <a:ext uri="{FF2B5EF4-FFF2-40B4-BE49-F238E27FC236}">
                <a16:creationId xmlns:a16="http://schemas.microsoft.com/office/drawing/2014/main" id="{5A35E7FF-8C41-8DC3-91BD-88B91FB75978}"/>
              </a:ext>
            </a:extLst>
          </p:cNvPr>
          <p:cNvSpPr/>
          <p:nvPr/>
        </p:nvSpPr>
        <p:spPr bwMode="white">
          <a:xfrm>
            <a:off x="5949590" y="1327906"/>
            <a:ext cx="4729075" cy="544586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ECD23DE-2D5E-A09E-6C7B-06A582254E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79976" y="2248320"/>
            <a:ext cx="664146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Disease Prediction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Predicts diseases from patient-reported symptoms and offers tailored health advice.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for Early Detection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Analyzes medical images to detect conditions like malaria, skin cancer,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Doctor &amp; Hospital Recommendations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Suggests nearby doctors and hospitals based on the patient’s geographical location.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Holistic Patient Care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Provides a comprehensive solution for disease prediction, wellness suggestions, and medical referrals.</a:t>
            </a:r>
          </a:p>
        </p:txBody>
      </p:sp>
    </p:spTree>
    <p:extLst>
      <p:ext uri="{BB962C8B-B14F-4D97-AF65-F5344CB8AC3E}">
        <p14:creationId xmlns:p14="http://schemas.microsoft.com/office/powerpoint/2010/main" val="226793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9F7950-5A8D-8F3C-411E-6F5A22AFCF45}"/>
              </a:ext>
            </a:extLst>
          </p:cNvPr>
          <p:cNvSpPr/>
          <p:nvPr/>
        </p:nvSpPr>
        <p:spPr>
          <a:xfrm>
            <a:off x="6096000" y="0"/>
            <a:ext cx="5291663" cy="16287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Solution Approach</a:t>
            </a:r>
            <a:r>
              <a:rPr lang="en-US" sz="40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:</a:t>
            </a:r>
            <a:r>
              <a:rPr lang="en-US" sz="4000" b="0" cap="none" spc="0" dirty="0">
                <a:ln w="0"/>
                <a:latin typeface="+mj-lt"/>
                <a:ea typeface="+mj-ea"/>
                <a:cs typeface="+mj-cs"/>
              </a:rPr>
              <a:t>-</a:t>
            </a:r>
            <a:endParaRPr lang="en-US" sz="4000" dirty="0"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 descr="Vaccine storage and manufacturing">
            <a:extLst>
              <a:ext uri="{FF2B5EF4-FFF2-40B4-BE49-F238E27FC236}">
                <a16:creationId xmlns:a16="http://schemas.microsoft.com/office/drawing/2014/main" id="{B3C490CE-E987-EF58-3050-5B55B920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736" r="15915" b="-2"/>
          <a:stretch/>
        </p:blipFill>
        <p:spPr>
          <a:xfrm>
            <a:off x="0" y="0"/>
            <a:ext cx="5478086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8959B0-D335-0D62-200D-A2FB5B8EF94A}"/>
              </a:ext>
            </a:extLst>
          </p:cNvPr>
          <p:cNvSpPr txBox="1">
            <a:spLocks/>
          </p:cNvSpPr>
          <p:nvPr/>
        </p:nvSpPr>
        <p:spPr>
          <a:xfrm>
            <a:off x="5616162" y="1967500"/>
            <a:ext cx="6401899" cy="52545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2300" b="1" dirty="0"/>
              <a:t>Department prediction-</a:t>
            </a:r>
          </a:p>
          <a:p>
            <a:pPr marL="0">
              <a:spcBef>
                <a:spcPts val="1500"/>
              </a:spcBef>
              <a:spcAft>
                <a:spcPts val="1500"/>
              </a:spcAft>
            </a:pPr>
            <a:r>
              <a:rPr lang="en-US" sz="2100" b="1" dirty="0"/>
              <a:t>1.    </a:t>
            </a:r>
            <a:r>
              <a:rPr lang="en-US" sz="1900" b="1" dirty="0"/>
              <a:t>Data Collection</a:t>
            </a:r>
            <a:r>
              <a:rPr lang="en-US" sz="2100" b="1" dirty="0"/>
              <a:t>: </a:t>
            </a:r>
            <a:r>
              <a:rPr lang="en-US" sz="1700" dirty="0"/>
              <a:t>Gathering a dataset containing patient information and department.</a:t>
            </a:r>
          </a:p>
          <a:p>
            <a:pPr marL="0">
              <a:spcBef>
                <a:spcPts val="1500"/>
              </a:spcBef>
              <a:spcAft>
                <a:spcPts val="1500"/>
              </a:spcAft>
            </a:pPr>
            <a:r>
              <a:rPr lang="en-US" sz="2100" b="1" dirty="0"/>
              <a:t>2.    </a:t>
            </a:r>
            <a:r>
              <a:rPr lang="en-US" sz="1900" b="1" dirty="0"/>
              <a:t>Data Preprocessing</a:t>
            </a:r>
            <a:r>
              <a:rPr lang="en-US" sz="2100" b="1" dirty="0"/>
              <a:t>: </a:t>
            </a:r>
            <a:r>
              <a:rPr lang="en-US" sz="1700" dirty="0"/>
              <a:t>Cleaning and preprocessing the data</a:t>
            </a:r>
          </a:p>
          <a:p>
            <a:pPr marL="0">
              <a:spcBef>
                <a:spcPts val="1500"/>
              </a:spcBef>
              <a:spcAft>
                <a:spcPts val="1500"/>
              </a:spcAft>
            </a:pPr>
            <a:r>
              <a:rPr lang="en-US" sz="2100" b="1" dirty="0"/>
              <a:t>3</a:t>
            </a:r>
            <a:r>
              <a:rPr lang="en-US" sz="1900" b="1" dirty="0"/>
              <a:t>.    Machine Learning Model: </a:t>
            </a:r>
            <a:r>
              <a:rPr lang="en-US" sz="1700" dirty="0"/>
              <a:t>Developing a machine learning model to predict  department and heart disease. Algorithms used random forests, SVM classifier, naive bayes, </a:t>
            </a:r>
            <a:r>
              <a:rPr lang="en-US" sz="1700" dirty="0" err="1"/>
              <a:t>etc</a:t>
            </a:r>
            <a:r>
              <a:rPr lang="en-US" sz="1700" dirty="0"/>
              <a:t> are used for classification tasks.</a:t>
            </a:r>
          </a:p>
          <a:p>
            <a:pPr marL="0">
              <a:spcBef>
                <a:spcPts val="1500"/>
              </a:spcBef>
              <a:spcAft>
                <a:spcPts val="1500"/>
              </a:spcAft>
            </a:pPr>
            <a:r>
              <a:rPr lang="en-US" sz="2100" b="1" dirty="0"/>
              <a:t>4.    </a:t>
            </a:r>
            <a:r>
              <a:rPr lang="en-US" sz="1900" b="1" dirty="0"/>
              <a:t>Model Training</a:t>
            </a:r>
            <a:r>
              <a:rPr lang="en-US" sz="2100" b="1" dirty="0"/>
              <a:t>: </a:t>
            </a:r>
            <a:r>
              <a:rPr lang="en-US" sz="1700" dirty="0"/>
              <a:t>Training the machine learning model, fine-tuning it for optimal performance.</a:t>
            </a:r>
          </a:p>
          <a:p>
            <a:pPr marL="0">
              <a:spcBef>
                <a:spcPts val="1500"/>
              </a:spcBef>
              <a:spcAft>
                <a:spcPts val="1500"/>
              </a:spcAft>
            </a:pPr>
            <a:r>
              <a:rPr lang="en-US" sz="2100" b="1" dirty="0"/>
              <a:t>5</a:t>
            </a:r>
            <a:r>
              <a:rPr lang="en-US" sz="2100" b="1" dirty="0">
                <a:effectLst/>
              </a:rPr>
              <a:t>.     </a:t>
            </a:r>
            <a:r>
              <a:rPr lang="en-US" sz="1900" b="1" dirty="0">
                <a:effectLst/>
              </a:rPr>
              <a:t>Model Evaluation</a:t>
            </a:r>
            <a:r>
              <a:rPr lang="en-US" sz="2100" b="1" dirty="0">
                <a:effectLst/>
              </a:rPr>
              <a:t>: </a:t>
            </a:r>
            <a:r>
              <a:rPr lang="en-US" sz="1700" b="0" i="0" dirty="0">
                <a:effectLst/>
              </a:rPr>
              <a:t>Evaluating the model’s  perfor</a:t>
            </a:r>
            <a:r>
              <a:rPr lang="en-US" sz="1700" dirty="0"/>
              <a:t>mance </a:t>
            </a:r>
            <a:r>
              <a:rPr lang="en-US" sz="1700" b="0" i="0" dirty="0">
                <a:effectLst/>
              </a:rPr>
              <a:t>on the testing dataset with the help of classification</a:t>
            </a:r>
            <a:r>
              <a:rPr lang="en-US" sz="1700" dirty="0"/>
              <a:t> report, confusion </a:t>
            </a:r>
            <a:r>
              <a:rPr lang="en-US" sz="1700" b="0" i="0" dirty="0">
                <a:effectLst/>
              </a:rPr>
              <a:t>matrix, accuracy score</a:t>
            </a:r>
            <a:r>
              <a:rPr lang="en-US" sz="1800" dirty="0">
                <a:solidFill>
                  <a:srgbClr val="374151"/>
                </a:solidFill>
              </a:rPr>
              <a:t>.</a:t>
            </a:r>
            <a:endParaRPr lang="en-US" sz="1800" dirty="0">
              <a:effectLst/>
            </a:endParaRPr>
          </a:p>
          <a:p>
            <a:pPr marL="0">
              <a:spcBef>
                <a:spcPts val="1500"/>
              </a:spcBef>
              <a:spcAft>
                <a:spcPts val="1500"/>
              </a:spcAft>
            </a:pPr>
            <a:endParaRPr lang="en-US" sz="1500" dirty="0"/>
          </a:p>
          <a:p>
            <a:pPr marL="0" fontAlgn="base">
              <a:spcBef>
                <a:spcPts val="1200"/>
              </a:spcBef>
              <a:tabLst>
                <a:tab pos="457200" algn="l"/>
              </a:tabLst>
            </a:pPr>
            <a:endParaRPr lang="en-US" sz="11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5E5F09-E7C7-C7F3-4552-2126B76340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06" t="2952" r="5043" b="3524"/>
          <a:stretch/>
        </p:blipFill>
        <p:spPr bwMode="auto">
          <a:xfrm>
            <a:off x="0" y="0"/>
            <a:ext cx="5478086" cy="709506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40011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1ED95-8758-8BC1-98AF-03A55A4B2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55"/>
            <a:ext cx="10515600" cy="1325563"/>
          </a:xfrm>
        </p:spPr>
        <p:txBody>
          <a:bodyPr/>
          <a:lstStyle/>
          <a:p>
            <a:r>
              <a:rPr lang="en-US" sz="4400" kern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Sample Data</a:t>
            </a:r>
            <a:r>
              <a:rPr lang="en-US" sz="4400" b="0" kern="12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:</a:t>
            </a:r>
            <a:r>
              <a:rPr lang="en-US" sz="4400" b="0" kern="1200" cap="none" spc="0" dirty="0">
                <a:ln w="0"/>
                <a:solidFill>
                  <a:schemeClr val="tx1"/>
                </a:solidFill>
                <a:latin typeface="+mj-lt"/>
                <a:ea typeface="+mj-ea"/>
                <a:cs typeface="+mj-cs"/>
              </a:rPr>
              <a:t>-</a:t>
            </a:r>
            <a:endParaRPr lang="en-IN" dirty="0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8B29D8FB-8BA7-18CF-295C-62551E6933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3318"/>
            <a:ext cx="4389120" cy="3081020"/>
          </a:xfr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676EC16-9F92-9F5D-8DFB-F66B729C75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529" y="1413318"/>
            <a:ext cx="5212080" cy="322732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512C377-BC62-1F0B-229E-8EDCEA8CC3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92" y="3776980"/>
            <a:ext cx="4493343" cy="308102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E3BCAE0-7C99-A129-3923-7EFD86A73F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472" y="3801000"/>
            <a:ext cx="4871087" cy="296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858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Picture 1039" descr="Abstract background of data">
            <a:extLst>
              <a:ext uri="{FF2B5EF4-FFF2-40B4-BE49-F238E27FC236}">
                <a16:creationId xmlns:a16="http://schemas.microsoft.com/office/drawing/2014/main" id="{BE8BE805-4208-1D34-93FF-9890D687A5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604" r="32023"/>
          <a:stretch/>
        </p:blipFill>
        <p:spPr>
          <a:xfrm>
            <a:off x="-1" y="-19252"/>
            <a:ext cx="4763194" cy="685800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BA216DD-D86A-D29D-0BC4-8FFDE6138032}"/>
              </a:ext>
            </a:extLst>
          </p:cNvPr>
          <p:cNvSpPr/>
          <p:nvPr/>
        </p:nvSpPr>
        <p:spPr>
          <a:xfrm>
            <a:off x="5373710" y="654141"/>
            <a:ext cx="4260741" cy="10333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Technology Used</a:t>
            </a:r>
            <a:r>
              <a:rPr lang="en-US" sz="32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:-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7C9A64-2B4D-52A6-F847-24B061FABE6B}"/>
              </a:ext>
            </a:extLst>
          </p:cNvPr>
          <p:cNvSpPr txBox="1"/>
          <p:nvPr/>
        </p:nvSpPr>
        <p:spPr>
          <a:xfrm>
            <a:off x="5295208" y="2220364"/>
            <a:ext cx="6525490" cy="38302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lvl="0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effectLst/>
              </a:rPr>
              <a:t>Language: Python v3.11.4</a:t>
            </a:r>
          </a:p>
          <a:p>
            <a:pPr marL="342900" lvl="0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effectLst/>
              </a:rPr>
              <a:t>Platform: Google </a:t>
            </a:r>
            <a:r>
              <a:rPr lang="en-US" sz="1600" dirty="0" err="1">
                <a:effectLst/>
              </a:rPr>
              <a:t>Colab</a:t>
            </a:r>
            <a:endParaRPr lang="en-US" sz="1600" dirty="0">
              <a:effectLst/>
            </a:endParaRPr>
          </a:p>
          <a:p>
            <a:pPr marL="342900" lvl="0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effectLst/>
              </a:rPr>
              <a:t>Libraries used:   </a:t>
            </a:r>
          </a:p>
          <a:p>
            <a:pPr marL="4000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   Scikit-Learn (</a:t>
            </a:r>
            <a:r>
              <a:rPr lang="en-US" sz="1600" dirty="0" err="1">
                <a:effectLst/>
              </a:rPr>
              <a:t>sklearn</a:t>
            </a:r>
            <a:r>
              <a:rPr lang="en-US" sz="1600" dirty="0">
                <a:effectLst/>
              </a:rPr>
              <a:t>)</a:t>
            </a:r>
          </a:p>
          <a:p>
            <a:pPr marL="4000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   decision trees</a:t>
            </a:r>
          </a:p>
          <a:p>
            <a:pPr marL="4000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</a:t>
            </a:r>
            <a:r>
              <a:rPr lang="en-US" sz="1600" dirty="0">
                <a:effectLst/>
              </a:rPr>
              <a:t>random forests</a:t>
            </a:r>
          </a:p>
          <a:p>
            <a:pPr marL="4000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</a:t>
            </a:r>
            <a:r>
              <a:rPr lang="en-US" sz="1600" dirty="0">
                <a:effectLst/>
              </a:rPr>
              <a:t>Pandas</a:t>
            </a:r>
            <a:endParaRPr lang="en-US" sz="1600" dirty="0"/>
          </a:p>
          <a:p>
            <a:pPr marL="4000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</a:t>
            </a:r>
            <a:r>
              <a:rPr lang="en-US" sz="1600" dirty="0">
                <a:effectLst/>
              </a:rPr>
              <a:t>NumPy</a:t>
            </a:r>
            <a:endParaRPr lang="en-US" sz="1600" dirty="0"/>
          </a:p>
          <a:p>
            <a:pPr marL="4000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   Matplotlib and Seaborn</a:t>
            </a:r>
          </a:p>
          <a:p>
            <a:pPr marL="4000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</a:t>
            </a:r>
            <a:r>
              <a:rPr lang="en-US" sz="1600" dirty="0" err="1">
                <a:effectLst/>
              </a:rPr>
              <a:t>XGBoost</a:t>
            </a:r>
            <a:r>
              <a:rPr lang="en-US" sz="1600" dirty="0">
                <a:effectLst/>
              </a:rPr>
              <a:t> (Gradient Boost)</a:t>
            </a:r>
            <a:endParaRPr lang="en-US" sz="1600" dirty="0"/>
          </a:p>
          <a:p>
            <a:pPr marL="4000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   Light GBM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13671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Scientist looking at test tube">
            <a:extLst>
              <a:ext uri="{FF2B5EF4-FFF2-40B4-BE49-F238E27FC236}">
                <a16:creationId xmlns:a16="http://schemas.microsoft.com/office/drawing/2014/main" id="{F923CFB6-5709-405C-8762-B310D3F2195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" b="25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17F5BF1-88DB-42F2-98A6-4C7FBFC31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F39051-1049-4508-8373-6A289966A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399" y="2238573"/>
            <a:ext cx="10629202" cy="119042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bject 7" descr="Beige rectangle">
            <a:extLst>
              <a:ext uri="{FF2B5EF4-FFF2-40B4-BE49-F238E27FC236}">
                <a16:creationId xmlns:a16="http://schemas.microsoft.com/office/drawing/2014/main" id="{2D7851E8-1907-4C8A-A16F-E461B5BFA940}"/>
              </a:ext>
            </a:extLst>
          </p:cNvPr>
          <p:cNvSpPr/>
          <p:nvPr/>
        </p:nvSpPr>
        <p:spPr bwMode="white">
          <a:xfrm flipV="1">
            <a:off x="1204699" y="37916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69541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60917A0709F94196107FD7C05FDFC1" ma:contentTypeVersion="3" ma:contentTypeDescription="Create a new document." ma:contentTypeScope="" ma:versionID="f4f35df7d3b2b30be4d7d303f6f7986b">
  <xsd:schema xmlns:xsd="http://www.w3.org/2001/XMLSchema" xmlns:xs="http://www.w3.org/2001/XMLSchema" xmlns:p="http://schemas.microsoft.com/office/2006/metadata/properties" xmlns:ns3="d5b61758-bfbd-42b9-9fcc-392b23d1e4fc" targetNamespace="http://schemas.microsoft.com/office/2006/metadata/properties" ma:root="true" ma:fieldsID="14f2756c2b30d218277a2f6739b49dbe" ns3:_="">
    <xsd:import namespace="d5b61758-bfbd-42b9-9fcc-392b23d1e4f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b61758-bfbd-42b9-9fcc-392b23d1e4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AD009C-C3BA-4DCF-93B6-8F10A65B5B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48F719-194F-41D6-A6B1-EC6BF27B3E08}">
  <ds:schemaRefs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d5b61758-bfbd-42b9-9fcc-392b23d1e4fc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AF4C662-14A0-42BE-977E-8182EC25EC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b61758-bfbd-42b9-9fcc-392b23d1e4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1677</TotalTime>
  <Words>471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Century Gothic</vt:lpstr>
      <vt:lpstr>Dubai Light</vt:lpstr>
      <vt:lpstr>Dubai Medium</vt:lpstr>
      <vt:lpstr>Gill Sans MT (Headings)</vt:lpstr>
      <vt:lpstr>Wingdings 2</vt:lpstr>
      <vt:lpstr>Quotable</vt:lpstr>
      <vt:lpstr>       MEDX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Sample Data:-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MED-X</dc:title>
  <dc:creator>SAYED OMAR AABID</dc:creator>
  <cp:lastModifiedBy>Lavanya Chaudhary</cp:lastModifiedBy>
  <cp:revision>35</cp:revision>
  <dcterms:created xsi:type="dcterms:W3CDTF">2023-09-15T03:51:11Z</dcterms:created>
  <dcterms:modified xsi:type="dcterms:W3CDTF">2024-09-20T10:44:00Z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0x0101001A60917A0709F94196107FD7C05FDFC1</vt:lpwstr>
  </property>
</Properties>
</file>